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sldIdLst>
    <p:sldId id="256" r:id="rId2"/>
    <p:sldId id="262" r:id="rId3"/>
    <p:sldId id="263" r:id="rId4"/>
    <p:sldId id="260" r:id="rId5"/>
    <p:sldId id="257" r:id="rId6"/>
    <p:sldId id="261" r:id="rId7"/>
    <p:sldId id="25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FFD"/>
    <a:srgbClr val="F96829"/>
    <a:srgbClr val="FA9B09"/>
    <a:srgbClr val="B12CF5"/>
    <a:srgbClr val="C52B61"/>
    <a:srgbClr val="763C89"/>
    <a:srgbClr val="2A4FD4"/>
    <a:srgbClr val="3D2A95"/>
    <a:srgbClr val="821BAB"/>
    <a:srgbClr val="08A7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005933-8B48-4F95-9583-1D94382489B5}" v="7" dt="2021-08-11T15:16:18.4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374" autoAdjust="0"/>
    <p:restoredTop sz="94660"/>
  </p:normalViewPr>
  <p:slideViewPr>
    <p:cSldViewPr snapToGrid="0">
      <p:cViewPr varScale="1">
        <p:scale>
          <a:sx n="86" d="100"/>
          <a:sy n="86" d="100"/>
        </p:scale>
        <p:origin x="95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safi, Tahmina (Cognizant)" userId="2378ec7c-debc-458e-9fa5-663052db2aac" providerId="ADAL" clId="{24005933-8B48-4F95-9583-1D94382489B5}"/>
    <pc:docChg chg="undo custSel addSld modSld">
      <pc:chgData name="Yousafi, Tahmina (Cognizant)" userId="2378ec7c-debc-458e-9fa5-663052db2aac" providerId="ADAL" clId="{24005933-8B48-4F95-9583-1D94382489B5}" dt="2021-08-11T15:16:30.173" v="136" actId="1076"/>
      <pc:docMkLst>
        <pc:docMk/>
      </pc:docMkLst>
      <pc:sldChg chg="addSp delSp modSp mod setBg">
        <pc:chgData name="Yousafi, Tahmina (Cognizant)" userId="2378ec7c-debc-458e-9fa5-663052db2aac" providerId="ADAL" clId="{24005933-8B48-4F95-9583-1D94382489B5}" dt="2021-08-11T15:16:30.173" v="136" actId="1076"/>
        <pc:sldMkLst>
          <pc:docMk/>
          <pc:sldMk cId="915500608" sldId="257"/>
        </pc:sldMkLst>
        <pc:spChg chg="del">
          <ac:chgData name="Yousafi, Tahmina (Cognizant)" userId="2378ec7c-debc-458e-9fa5-663052db2aac" providerId="ADAL" clId="{24005933-8B48-4F95-9583-1D94382489B5}" dt="2021-08-11T15:13:30.712" v="0" actId="21"/>
          <ac:spMkLst>
            <pc:docMk/>
            <pc:sldMk cId="915500608" sldId="257"/>
            <ac:spMk id="2" creationId="{462B7901-5342-48E5-8157-88AE303EE9B3}"/>
          </ac:spMkLst>
        </pc:spChg>
        <pc:spChg chg="add del">
          <ac:chgData name="Yousafi, Tahmina (Cognizant)" userId="2378ec7c-debc-458e-9fa5-663052db2aac" providerId="ADAL" clId="{24005933-8B48-4F95-9583-1D94382489B5}" dt="2021-08-11T15:13:53.820" v="8" actId="931"/>
          <ac:spMkLst>
            <pc:docMk/>
            <pc:sldMk cId="915500608" sldId="257"/>
            <ac:spMk id="3" creationId="{32CC9013-A3B0-4CFD-AE50-9311C946E8B0}"/>
          </ac:spMkLst>
        </pc:spChg>
        <pc:spChg chg="add mod">
          <ac:chgData name="Yousafi, Tahmina (Cognizant)" userId="2378ec7c-debc-458e-9fa5-663052db2aac" providerId="ADAL" clId="{24005933-8B48-4F95-9583-1D94382489B5}" dt="2021-08-11T15:16:01.471" v="121" actId="122"/>
          <ac:spMkLst>
            <pc:docMk/>
            <pc:sldMk cId="915500608" sldId="257"/>
            <ac:spMk id="9" creationId="{F0AF6705-55E1-4D71-BD12-650F9CD04684}"/>
          </ac:spMkLst>
        </pc:spChg>
        <pc:spChg chg="add mod">
          <ac:chgData name="Yousafi, Tahmina (Cognizant)" userId="2378ec7c-debc-458e-9fa5-663052db2aac" providerId="ADAL" clId="{24005933-8B48-4F95-9583-1D94382489B5}" dt="2021-08-11T15:16:24.483" v="134" actId="1076"/>
          <ac:spMkLst>
            <pc:docMk/>
            <pc:sldMk cId="915500608" sldId="257"/>
            <ac:spMk id="10" creationId="{ED6CF68F-2302-470F-A80A-C2C8E3B4AF2B}"/>
          </ac:spMkLst>
        </pc:spChg>
        <pc:spChg chg="add mod">
          <ac:chgData name="Yousafi, Tahmina (Cognizant)" userId="2378ec7c-debc-458e-9fa5-663052db2aac" providerId="ADAL" clId="{24005933-8B48-4F95-9583-1D94382489B5}" dt="2021-08-11T15:16:23.420" v="133" actId="1076"/>
          <ac:spMkLst>
            <pc:docMk/>
            <pc:sldMk cId="915500608" sldId="257"/>
            <ac:spMk id="11" creationId="{5FE59BE1-3EC9-4F50-8A40-4B8F9928D1E2}"/>
          </ac:spMkLst>
        </pc:spChg>
        <pc:spChg chg="add mod">
          <ac:chgData name="Yousafi, Tahmina (Cognizant)" userId="2378ec7c-debc-458e-9fa5-663052db2aac" providerId="ADAL" clId="{24005933-8B48-4F95-9583-1D94382489B5}" dt="2021-08-11T15:16:29.585" v="135" actId="1076"/>
          <ac:spMkLst>
            <pc:docMk/>
            <pc:sldMk cId="915500608" sldId="257"/>
            <ac:spMk id="12" creationId="{924841B8-64E6-4A3A-B325-704EABD96E22}"/>
          </ac:spMkLst>
        </pc:spChg>
        <pc:spChg chg="add mod">
          <ac:chgData name="Yousafi, Tahmina (Cognizant)" userId="2378ec7c-debc-458e-9fa5-663052db2aac" providerId="ADAL" clId="{24005933-8B48-4F95-9583-1D94382489B5}" dt="2021-08-11T15:16:30.173" v="136" actId="1076"/>
          <ac:spMkLst>
            <pc:docMk/>
            <pc:sldMk cId="915500608" sldId="257"/>
            <ac:spMk id="13" creationId="{7E81558A-8EB8-4CFF-9927-823CDE780A9E}"/>
          </ac:spMkLst>
        </pc:spChg>
        <pc:picChg chg="add del mod">
          <ac:chgData name="Yousafi, Tahmina (Cognizant)" userId="2378ec7c-debc-458e-9fa5-663052db2aac" providerId="ADAL" clId="{24005933-8B48-4F95-9583-1D94382489B5}" dt="2021-08-11T15:13:48.228" v="7" actId="931"/>
          <ac:picMkLst>
            <pc:docMk/>
            <pc:sldMk cId="915500608" sldId="257"/>
            <ac:picMk id="5" creationId="{8CC90812-8DDC-4307-9660-7988FE81FB31}"/>
          </ac:picMkLst>
        </pc:picChg>
        <pc:picChg chg="add mod ord">
          <ac:chgData name="Yousafi, Tahmina (Cognizant)" userId="2378ec7c-debc-458e-9fa5-663052db2aac" providerId="ADAL" clId="{24005933-8B48-4F95-9583-1D94382489B5}" dt="2021-08-11T15:15:16.469" v="83" actId="1076"/>
          <ac:picMkLst>
            <pc:docMk/>
            <pc:sldMk cId="915500608" sldId="257"/>
            <ac:picMk id="7" creationId="{4C7D9524-CBE7-4439-A519-1901A53FDF52}"/>
          </ac:picMkLst>
        </pc:picChg>
      </pc:sldChg>
      <pc:sldChg chg="new">
        <pc:chgData name="Yousafi, Tahmina (Cognizant)" userId="2378ec7c-debc-458e-9fa5-663052db2aac" providerId="ADAL" clId="{24005933-8B48-4F95-9583-1D94382489B5}" dt="2021-08-11T15:15:29.197" v="85" actId="680"/>
        <pc:sldMkLst>
          <pc:docMk/>
          <pc:sldMk cId="4073933648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4EC743F4-8769-40B4-85DF-6CB8DE9F66AA}" type="datetimeFigureOut">
              <a:rPr lang="en-US" smtClean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800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826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8/11/2021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75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8/11/2021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62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8/11/2021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36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8/11/2021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604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8/11/2021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31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8/11/2021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776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8/11/2021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787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pPr/>
              <a:t>8/11/2021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970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pPr/>
              <a:t>8/11/2021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9164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pPr/>
              <a:t>8/11/2021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90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pPr/>
              <a:t>8/11/2021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2628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pPr/>
              <a:t>8/11/2021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2372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pPr/>
              <a:t>8/11/2021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4697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1879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187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EC743F4-8769-40B4-85DF-6CB8DE9F66AA}" type="datetimeFigureOut">
              <a:rPr lang="en-US" smtClean="0"/>
              <a:pPr/>
              <a:t>8/11/2021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5178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  <p:sldLayoutId id="2147483753" r:id="rId13"/>
    <p:sldLayoutId id="2147483754" r:id="rId14"/>
    <p:sldLayoutId id="2147483755" r:id="rId15"/>
    <p:sldLayoutId id="2147483756" r:id="rId16"/>
    <p:sldLayoutId id="214748375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yphotos.com.s3-website-us-east-1.amazonaws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18" Type="http://schemas.openxmlformats.org/officeDocument/2006/relationships/image" Target="../media/image2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17" Type="http://schemas.openxmlformats.org/officeDocument/2006/relationships/image" Target="../media/image23.png"/><Relationship Id="rId2" Type="http://schemas.openxmlformats.org/officeDocument/2006/relationships/image" Target="../media/image1.jpeg"/><Relationship Id="rId16" Type="http://schemas.openxmlformats.org/officeDocument/2006/relationships/image" Target="../media/image2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E5AE4-6652-456A-8079-842CFF06AF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0000" y="217735"/>
            <a:ext cx="4075200" cy="2226688"/>
          </a:xfrm>
        </p:spPr>
        <p:txBody>
          <a:bodyPr>
            <a:normAutofit/>
          </a:bodyPr>
          <a:lstStyle/>
          <a:p>
            <a:r>
              <a:rPr lang="en-US" b="1" dirty="0" err="1"/>
              <a:t>myPhotos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1D0EE-4860-465E-ADE6-C829990BCC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0000" y="4345654"/>
            <a:ext cx="4075200" cy="2070001"/>
          </a:xfrm>
        </p:spPr>
        <p:txBody>
          <a:bodyPr>
            <a:normAutofit/>
          </a:bodyPr>
          <a:lstStyle/>
          <a:p>
            <a:r>
              <a:rPr lang="en-US" sz="3600" dirty="0"/>
              <a:t>Tahmina Yousafi</a:t>
            </a:r>
          </a:p>
        </p:txBody>
      </p:sp>
      <p:pic>
        <p:nvPicPr>
          <p:cNvPr id="4" name="Picture 3" descr="Abstract red geometric pattern">
            <a:extLst>
              <a:ext uri="{FF2B5EF4-FFF2-40B4-BE49-F238E27FC236}">
                <a16:creationId xmlns:a16="http://schemas.microsoft.com/office/drawing/2014/main" id="{CFD602D2-6B78-423D-A8C1-7DF05AF6F5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46" r="35368" b="-2"/>
          <a:stretch/>
        </p:blipFill>
        <p:spPr>
          <a:xfrm>
            <a:off x="6080462" y="6306"/>
            <a:ext cx="61115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707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34CEB-4452-4BD8-A23A-C32FBB41D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67698-10CF-4396-9D0A-766EE55F4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/>
              <a:t>myPhotos</a:t>
            </a:r>
            <a:r>
              <a:rPr lang="en-US" sz="2400" dirty="0"/>
              <a:t> is a website where users can upload photos and create albums. Users can have accounts to manage their data and information.  </a:t>
            </a:r>
          </a:p>
        </p:txBody>
      </p:sp>
    </p:spTree>
    <p:extLst>
      <p:ext uri="{BB962C8B-B14F-4D97-AF65-F5344CB8AC3E}">
        <p14:creationId xmlns:p14="http://schemas.microsoft.com/office/powerpoint/2010/main" val="4139060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F3CD8-E956-4768-B15F-04E25D427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EE20A-36E3-4E19-894F-DE8799761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604433"/>
            <a:ext cx="10131425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hlinkClick r:id="rId2"/>
              </a:rPr>
              <a:t>http://www.myphotos.com.s3-website-us-east-1.amazonaws.com/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67062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273CC9D-2C00-413C-81BB-15DD25B1CD56}"/>
              </a:ext>
            </a:extLst>
          </p:cNvPr>
          <p:cNvSpPr txBox="1"/>
          <p:nvPr/>
        </p:nvSpPr>
        <p:spPr>
          <a:xfrm>
            <a:off x="8429371" y="3322064"/>
            <a:ext cx="2654424" cy="135828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BF93A-2388-4A28-91BA-61746A9E3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1" y="620287"/>
            <a:ext cx="4709054" cy="576262"/>
          </a:xfrm>
        </p:spPr>
        <p:txBody>
          <a:bodyPr/>
          <a:lstStyle/>
          <a:p>
            <a:r>
              <a:rPr lang="en-US" sz="3600" b="1" dirty="0"/>
              <a:t>Frontend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29713-C68A-4792-AA89-493A648D0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1" y="1551251"/>
            <a:ext cx="4709054" cy="2920998"/>
          </a:xfrm>
        </p:spPr>
        <p:txBody>
          <a:bodyPr/>
          <a:lstStyle/>
          <a:p>
            <a:r>
              <a:rPr lang="en-US" sz="2400" dirty="0"/>
              <a:t>TypeScript </a:t>
            </a:r>
          </a:p>
          <a:p>
            <a:r>
              <a:rPr lang="en-US" sz="2400" dirty="0"/>
              <a:t>React 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3792AE-4E6C-4366-A80A-51560A44FC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23483" y="620287"/>
            <a:ext cx="4722813" cy="576262"/>
          </a:xfrm>
        </p:spPr>
        <p:txBody>
          <a:bodyPr/>
          <a:lstStyle/>
          <a:p>
            <a:r>
              <a:rPr lang="en-US" sz="3600" b="1" dirty="0"/>
              <a:t>Backend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F5D0F7-0BD7-4CAA-A500-E3C43FD80D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23483" y="1551251"/>
            <a:ext cx="4709054" cy="2920998"/>
          </a:xfrm>
        </p:spPr>
        <p:txBody>
          <a:bodyPr>
            <a:normAutofit/>
          </a:bodyPr>
          <a:lstStyle/>
          <a:p>
            <a:r>
              <a:rPr lang="en-US" sz="2400" dirty="0"/>
              <a:t>AWS S3 Buckets</a:t>
            </a:r>
          </a:p>
          <a:p>
            <a:r>
              <a:rPr lang="en-US" sz="2400" dirty="0"/>
              <a:t>AWS CDK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95579E-FC43-4CB3-8DA6-4F30DC6EE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693" y="2887462"/>
            <a:ext cx="2364420" cy="1773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60FDF33-180D-4728-B50D-513BFE3ED6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1" y="3446879"/>
            <a:ext cx="1213898" cy="1213898"/>
          </a:xfrm>
          <a:prstGeom prst="rect">
            <a:avLst/>
          </a:prstGeom>
        </p:spPr>
      </p:pic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3232996A-810B-4361-A814-3A94F9F5FD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587" y="3301204"/>
            <a:ext cx="1705299" cy="1400003"/>
          </a:xfrm>
          <a:prstGeom prst="rect">
            <a:avLst/>
          </a:prstGeom>
        </p:spPr>
      </p:pic>
      <p:pic>
        <p:nvPicPr>
          <p:cNvPr id="16" name="Picture 1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911DEEEE-A2B1-4363-A13C-7A9C6EE55A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371" y="3429000"/>
            <a:ext cx="2720982" cy="114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592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FE59BE1-3EC9-4F50-8A40-4B8F9928D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336" y="629918"/>
            <a:ext cx="2226965" cy="4044014"/>
          </a:xfrm>
          <a:solidFill>
            <a:srgbClr val="821BAB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Key Activities </a:t>
            </a:r>
          </a:p>
          <a:p>
            <a:r>
              <a:rPr lang="en-US" sz="1600" dirty="0"/>
              <a:t>Website Development </a:t>
            </a:r>
          </a:p>
          <a:p>
            <a:r>
              <a:rPr lang="en-US" sz="1600" dirty="0"/>
              <a:t>Potential mobile app development</a:t>
            </a:r>
          </a:p>
          <a:p>
            <a:r>
              <a:rPr lang="en-US" sz="1600" dirty="0"/>
              <a:t>Marketing and Customer Acquisition </a:t>
            </a:r>
          </a:p>
          <a:p>
            <a:r>
              <a:rPr lang="en-US" sz="1600" dirty="0"/>
              <a:t>Customer Support</a:t>
            </a:r>
          </a:p>
          <a:p>
            <a:r>
              <a:rPr lang="en-US" sz="1600" dirty="0"/>
              <a:t>Managing online information and security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0AF6705-55E1-4D71-BD12-650F9CD04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7" y="-396416"/>
            <a:ext cx="10131425" cy="1456267"/>
          </a:xfrm>
        </p:spPr>
        <p:txBody>
          <a:bodyPr/>
          <a:lstStyle/>
          <a:p>
            <a:pPr algn="ctr"/>
            <a:r>
              <a:rPr lang="en-US" dirty="0"/>
              <a:t>Business Model Canvas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24841B8-64E6-4A3A-B325-704EABD96E22}"/>
              </a:ext>
            </a:extLst>
          </p:cNvPr>
          <p:cNvSpPr txBox="1">
            <a:spLocks/>
          </p:cNvSpPr>
          <p:nvPr/>
        </p:nvSpPr>
        <p:spPr>
          <a:xfrm>
            <a:off x="2470700" y="637551"/>
            <a:ext cx="2083800" cy="4044013"/>
          </a:xfrm>
          <a:prstGeom prst="rect">
            <a:avLst/>
          </a:prstGeom>
          <a:solidFill>
            <a:srgbClr val="08A74B"/>
          </a:solidFill>
        </p:spPr>
        <p:txBody>
          <a:bodyPr vert="horz" lIns="91440" tIns="45720" rIns="91440" bIns="45720" rtlCol="0" anchor="ctr">
            <a:normAutofit fontScale="92500"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 dirty="0"/>
              <a:t>Value </a:t>
            </a:r>
          </a:p>
          <a:p>
            <a:pPr marL="0" indent="0">
              <a:buFont typeface="Arial"/>
              <a:buNone/>
            </a:pPr>
            <a:r>
              <a:rPr lang="en-US" b="1" dirty="0"/>
              <a:t>Proposition</a:t>
            </a:r>
          </a:p>
          <a:p>
            <a:r>
              <a:rPr lang="en-US" sz="1700" dirty="0"/>
              <a:t>Easy to use and manage</a:t>
            </a:r>
          </a:p>
          <a:p>
            <a:r>
              <a:rPr lang="en-US" sz="1700" dirty="0"/>
              <a:t>Security of information </a:t>
            </a:r>
          </a:p>
          <a:p>
            <a:r>
              <a:rPr lang="en-US" sz="1700" dirty="0"/>
              <a:t>Simple storage and recovery of data and information</a:t>
            </a:r>
          </a:p>
          <a:p>
            <a:r>
              <a:rPr lang="en-US" sz="1700" dirty="0"/>
              <a:t>Account protection</a:t>
            </a:r>
          </a:p>
          <a:p>
            <a:r>
              <a:rPr lang="en-US" sz="1700" dirty="0"/>
              <a:t>User personalization</a:t>
            </a:r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7E81558A-8EB8-4CFF-9927-823CDE780A9E}"/>
              </a:ext>
            </a:extLst>
          </p:cNvPr>
          <p:cNvSpPr txBox="1">
            <a:spLocks/>
          </p:cNvSpPr>
          <p:nvPr/>
        </p:nvSpPr>
        <p:spPr>
          <a:xfrm>
            <a:off x="4637137" y="637552"/>
            <a:ext cx="1706950" cy="4044012"/>
          </a:xfrm>
          <a:prstGeom prst="rect">
            <a:avLst/>
          </a:prstGeom>
          <a:solidFill>
            <a:srgbClr val="3D2A95"/>
          </a:solidFill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 dirty="0"/>
              <a:t>Customer Relationship </a:t>
            </a:r>
          </a:p>
          <a:p>
            <a:r>
              <a:rPr lang="en-US" sz="1600" dirty="0"/>
              <a:t>Social Media</a:t>
            </a:r>
          </a:p>
          <a:p>
            <a:r>
              <a:rPr lang="en-US" sz="1600" dirty="0"/>
              <a:t>Customer Support</a:t>
            </a:r>
          </a:p>
          <a:p>
            <a:r>
              <a:rPr lang="en-US" sz="1600" dirty="0"/>
              <a:t>Notifications (email)</a:t>
            </a:r>
          </a:p>
          <a:p>
            <a:r>
              <a:rPr lang="en-US" sz="1600" dirty="0"/>
              <a:t>Feedback Form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8B7B4E33-3BAD-4D7C-B351-683903A3C512}"/>
              </a:ext>
            </a:extLst>
          </p:cNvPr>
          <p:cNvSpPr txBox="1">
            <a:spLocks/>
          </p:cNvSpPr>
          <p:nvPr/>
        </p:nvSpPr>
        <p:spPr>
          <a:xfrm>
            <a:off x="134336" y="4766600"/>
            <a:ext cx="6226562" cy="1972900"/>
          </a:xfrm>
          <a:prstGeom prst="rect">
            <a:avLst/>
          </a:prstGeom>
          <a:solidFill>
            <a:srgbClr val="C52B61"/>
          </a:solidFill>
        </p:spPr>
        <p:txBody>
          <a:bodyPr vert="horz" lIns="91440" tIns="45720" rIns="91440" bIns="45720" numCol="2" rtlCol="0" anchor="ctr">
            <a:normAutofit fontScale="92500" lnSpcReduction="10000"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 dirty="0"/>
              <a:t>Cost Structure</a:t>
            </a:r>
          </a:p>
          <a:p>
            <a:r>
              <a:rPr lang="en-US" sz="1700" dirty="0"/>
              <a:t>Research and Development</a:t>
            </a:r>
          </a:p>
          <a:p>
            <a:r>
              <a:rPr lang="en-US" sz="1700" dirty="0"/>
              <a:t>Cybersecurity and Account Protection</a:t>
            </a:r>
          </a:p>
          <a:p>
            <a:r>
              <a:rPr lang="en-US" sz="1700" dirty="0"/>
              <a:t>Technology Infrastructure </a:t>
            </a:r>
          </a:p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endParaRPr lang="en-US" sz="1700" dirty="0"/>
          </a:p>
          <a:p>
            <a:r>
              <a:rPr lang="en-US" sz="1700" dirty="0"/>
              <a:t>Customer Support</a:t>
            </a:r>
          </a:p>
          <a:p>
            <a:r>
              <a:rPr lang="en-US" sz="1700" dirty="0"/>
              <a:t>Platform Management</a:t>
            </a:r>
          </a:p>
          <a:p>
            <a:r>
              <a:rPr lang="en-US" sz="1700" dirty="0"/>
              <a:t>Customer Acquisition Costs (CAC)</a:t>
            </a:r>
          </a:p>
          <a:p>
            <a:r>
              <a:rPr lang="en-US" sz="1700" dirty="0"/>
              <a:t>Marketing and Advertising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E0F99873-604A-4571-88E4-ED73C637AF98}"/>
              </a:ext>
            </a:extLst>
          </p:cNvPr>
          <p:cNvSpPr txBox="1">
            <a:spLocks/>
          </p:cNvSpPr>
          <p:nvPr/>
        </p:nvSpPr>
        <p:spPr>
          <a:xfrm>
            <a:off x="6443534" y="637551"/>
            <a:ext cx="3277765" cy="1358775"/>
          </a:xfrm>
          <a:prstGeom prst="rect">
            <a:avLst/>
          </a:prstGeom>
          <a:solidFill>
            <a:srgbClr val="FA9B09"/>
          </a:solidFill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 dirty="0"/>
              <a:t>Key Partners </a:t>
            </a:r>
          </a:p>
          <a:p>
            <a:r>
              <a:rPr lang="en-US" sz="1600" dirty="0"/>
              <a:t>Developers and Technologists</a:t>
            </a:r>
          </a:p>
          <a:p>
            <a:r>
              <a:rPr lang="en-US" sz="1600" dirty="0"/>
              <a:t>Marketing Strategists 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546A46A0-3735-46E4-902C-721431FFDA93}"/>
              </a:ext>
            </a:extLst>
          </p:cNvPr>
          <p:cNvSpPr txBox="1">
            <a:spLocks/>
          </p:cNvSpPr>
          <p:nvPr/>
        </p:nvSpPr>
        <p:spPr>
          <a:xfrm>
            <a:off x="6443534" y="2086185"/>
            <a:ext cx="3277765" cy="2210607"/>
          </a:xfrm>
          <a:prstGeom prst="rect">
            <a:avLst/>
          </a:prstGeom>
          <a:solidFill>
            <a:srgbClr val="F96829"/>
          </a:solidFill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 dirty="0"/>
              <a:t>Key Resources </a:t>
            </a:r>
          </a:p>
          <a:p>
            <a:r>
              <a:rPr lang="en-US" sz="1600" dirty="0"/>
              <a:t>Users</a:t>
            </a:r>
          </a:p>
          <a:p>
            <a:r>
              <a:rPr lang="en-US" sz="1600" dirty="0"/>
              <a:t>Digital Platform (Website and potential App)</a:t>
            </a:r>
          </a:p>
          <a:p>
            <a:r>
              <a:rPr lang="en-US" sz="1600" dirty="0"/>
              <a:t>Developers and Technologists</a:t>
            </a:r>
          </a:p>
          <a:p>
            <a:r>
              <a:rPr lang="en-US" sz="1600" dirty="0"/>
              <a:t>Brand 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BA79760F-5DB1-42F2-92C5-6B858C96E5DA}"/>
              </a:ext>
            </a:extLst>
          </p:cNvPr>
          <p:cNvSpPr txBox="1">
            <a:spLocks/>
          </p:cNvSpPr>
          <p:nvPr/>
        </p:nvSpPr>
        <p:spPr>
          <a:xfrm>
            <a:off x="9807182" y="629917"/>
            <a:ext cx="2250482" cy="6110423"/>
          </a:xfrm>
          <a:prstGeom prst="rect">
            <a:avLst/>
          </a:prstGeom>
          <a:solidFill>
            <a:srgbClr val="009FFD"/>
          </a:solidFill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b="1" dirty="0"/>
          </a:p>
          <a:p>
            <a:pPr marL="0" indent="0">
              <a:buFont typeface="Arial"/>
              <a:buNone/>
            </a:pPr>
            <a:r>
              <a:rPr lang="en-US" b="1" dirty="0"/>
              <a:t>Customer Segment</a:t>
            </a:r>
          </a:p>
          <a:p>
            <a:r>
              <a:rPr lang="en-US" sz="1600" dirty="0"/>
              <a:t>People who are looking for an easy way to store photos</a:t>
            </a:r>
          </a:p>
          <a:p>
            <a:r>
              <a:rPr lang="en-US" sz="1600" dirty="0"/>
              <a:t>People who want to make paperless albums</a:t>
            </a:r>
          </a:p>
          <a:p>
            <a:r>
              <a:rPr lang="en-US" sz="1600" dirty="0"/>
              <a:t>People who want to store photos in the least amount of storage space</a:t>
            </a:r>
          </a:p>
          <a:p>
            <a:r>
              <a:rPr lang="en-US" sz="1600" dirty="0"/>
              <a:t>People who want security over their photos and memories </a:t>
            </a:r>
          </a:p>
          <a:p>
            <a:r>
              <a:rPr lang="en-US" sz="1600" dirty="0"/>
              <a:t>People who want easy access to their photos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ED6CF68F-2302-470F-A80A-C2C8E3B4AF2B}"/>
              </a:ext>
            </a:extLst>
          </p:cNvPr>
          <p:cNvSpPr txBox="1">
            <a:spLocks/>
          </p:cNvSpPr>
          <p:nvPr/>
        </p:nvSpPr>
        <p:spPr>
          <a:xfrm>
            <a:off x="6443535" y="4386650"/>
            <a:ext cx="3281010" cy="2352850"/>
          </a:xfrm>
          <a:prstGeom prst="rect">
            <a:avLst/>
          </a:prstGeom>
          <a:solidFill>
            <a:srgbClr val="2A4FD4"/>
          </a:solidFill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b="1" dirty="0"/>
              <a:t>Channels</a:t>
            </a:r>
            <a:r>
              <a:rPr lang="en-US" dirty="0"/>
              <a:t> </a:t>
            </a:r>
          </a:p>
          <a:p>
            <a:r>
              <a:rPr lang="en-US" sz="1600" dirty="0"/>
              <a:t>Website </a:t>
            </a:r>
          </a:p>
          <a:p>
            <a:r>
              <a:rPr lang="en-US" sz="1600" dirty="0"/>
              <a:t>Potential corresponding mobile app (iOS and Android)</a:t>
            </a:r>
          </a:p>
          <a:p>
            <a:r>
              <a:rPr lang="en-US" sz="1600" dirty="0"/>
              <a:t>Social Media</a:t>
            </a:r>
          </a:p>
          <a:p>
            <a:r>
              <a:rPr lang="en-US" sz="1600" dirty="0"/>
              <a:t>Word of Mouth</a:t>
            </a:r>
          </a:p>
        </p:txBody>
      </p:sp>
      <p:pic>
        <p:nvPicPr>
          <p:cNvPr id="6" name="Graphic 5" descr="Checkbox Checked with solid fill">
            <a:extLst>
              <a:ext uri="{FF2B5EF4-FFF2-40B4-BE49-F238E27FC236}">
                <a16:creationId xmlns:a16="http://schemas.microsoft.com/office/drawing/2014/main" id="{DB991FF8-37FD-47AB-AAF2-2BBCE5FB54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69513" y="600887"/>
            <a:ext cx="641512" cy="641512"/>
          </a:xfrm>
          <a:prstGeom prst="rect">
            <a:avLst/>
          </a:prstGeom>
        </p:spPr>
      </p:pic>
      <p:pic>
        <p:nvPicPr>
          <p:cNvPr id="19" name="Graphic 18" descr="Link with solid fill">
            <a:extLst>
              <a:ext uri="{FF2B5EF4-FFF2-40B4-BE49-F238E27FC236}">
                <a16:creationId xmlns:a16="http://schemas.microsoft.com/office/drawing/2014/main" id="{5FFA18E4-92D6-4501-823E-024655D6AF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64099" y="662423"/>
            <a:ext cx="457200" cy="457200"/>
          </a:xfrm>
          <a:prstGeom prst="rect">
            <a:avLst/>
          </a:prstGeom>
        </p:spPr>
      </p:pic>
      <p:pic>
        <p:nvPicPr>
          <p:cNvPr id="21" name="Graphic 20" descr="Cycle with people with solid fill">
            <a:extLst>
              <a:ext uri="{FF2B5EF4-FFF2-40B4-BE49-F238E27FC236}">
                <a16:creationId xmlns:a16="http://schemas.microsoft.com/office/drawing/2014/main" id="{164A63CF-4E6E-405A-AAA3-CE34CE8CF5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09821" y="2093818"/>
            <a:ext cx="611478" cy="611478"/>
          </a:xfrm>
          <a:prstGeom prst="rect">
            <a:avLst/>
          </a:prstGeom>
        </p:spPr>
      </p:pic>
      <p:pic>
        <p:nvPicPr>
          <p:cNvPr id="23" name="Graphic 22" descr="Present with solid fill">
            <a:extLst>
              <a:ext uri="{FF2B5EF4-FFF2-40B4-BE49-F238E27FC236}">
                <a16:creationId xmlns:a16="http://schemas.microsoft.com/office/drawing/2014/main" id="{AF58C1CC-F86E-4212-A0B6-348B365B122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46202" y="694332"/>
            <a:ext cx="463031" cy="463031"/>
          </a:xfrm>
          <a:prstGeom prst="rect">
            <a:avLst/>
          </a:prstGeom>
        </p:spPr>
      </p:pic>
      <p:pic>
        <p:nvPicPr>
          <p:cNvPr id="25" name="Graphic 24" descr="Heart with solid fill">
            <a:extLst>
              <a:ext uri="{FF2B5EF4-FFF2-40B4-BE49-F238E27FC236}">
                <a16:creationId xmlns:a16="http://schemas.microsoft.com/office/drawing/2014/main" id="{8E9D3C8D-3791-4B0F-8AA6-14BB76BD295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80503" y="700163"/>
            <a:ext cx="457200" cy="457200"/>
          </a:xfrm>
          <a:prstGeom prst="rect">
            <a:avLst/>
          </a:prstGeom>
        </p:spPr>
      </p:pic>
      <p:pic>
        <p:nvPicPr>
          <p:cNvPr id="27" name="Graphic 26" descr="Users with solid fill">
            <a:extLst>
              <a:ext uri="{FF2B5EF4-FFF2-40B4-BE49-F238E27FC236}">
                <a16:creationId xmlns:a16="http://schemas.microsoft.com/office/drawing/2014/main" id="{BB6B930D-8A52-4B77-A5AD-D4FDDC98DE9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431988" y="662423"/>
            <a:ext cx="558706" cy="558706"/>
          </a:xfrm>
          <a:prstGeom prst="rect">
            <a:avLst/>
          </a:prstGeom>
        </p:spPr>
      </p:pic>
      <p:pic>
        <p:nvPicPr>
          <p:cNvPr id="29" name="Graphic 28" descr="Truck with solid fill">
            <a:extLst>
              <a:ext uri="{FF2B5EF4-FFF2-40B4-BE49-F238E27FC236}">
                <a16:creationId xmlns:a16="http://schemas.microsoft.com/office/drawing/2014/main" id="{992DCB2D-4F05-4CA5-96D3-D8D8FB3B7B2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86959" y="4445331"/>
            <a:ext cx="457201" cy="457201"/>
          </a:xfrm>
          <a:prstGeom prst="rect">
            <a:avLst/>
          </a:prstGeom>
        </p:spPr>
      </p:pic>
      <p:pic>
        <p:nvPicPr>
          <p:cNvPr id="31" name="Graphic 30" descr="Label with solid fill">
            <a:extLst>
              <a:ext uri="{FF2B5EF4-FFF2-40B4-BE49-F238E27FC236}">
                <a16:creationId xmlns:a16="http://schemas.microsoft.com/office/drawing/2014/main" id="{3391D9B3-1A74-41D4-8139-197EC82DF77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886887" y="4774232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500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C5101-928D-4666-9749-7736193BE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7" y="2700866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149425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AF6706C-CF07-43A1-BCC4-CBA5D3382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F94DC1C-47D1-41D7-8B1B-9A036D614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11383CE-CE86-4E1C-B289-798EB9E6E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22"/>
          <a:stretch/>
        </p:blipFill>
        <p:spPr>
          <a:xfrm>
            <a:off x="1" y="0"/>
            <a:ext cx="5896768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F6A53C-CAD8-4560-8E4F-27E4B71E5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876" y="2032000"/>
            <a:ext cx="4513792" cy="28193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dirty="0">
                <a:solidFill>
                  <a:srgbClr val="FFFFFF"/>
                </a:solidFill>
              </a:rPr>
              <a:t>Thank you!</a:t>
            </a:r>
            <a:br>
              <a:rPr lang="en-US" sz="4800" dirty="0">
                <a:solidFill>
                  <a:srgbClr val="FFFFFF"/>
                </a:solidFill>
              </a:rPr>
            </a:b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Questions?</a:t>
            </a:r>
          </a:p>
        </p:txBody>
      </p:sp>
      <p:sp useBgFill="1">
        <p:nvSpPr>
          <p:cNvPr id="15" name="Freeform 5">
            <a:extLst>
              <a:ext uri="{FF2B5EF4-FFF2-40B4-BE49-F238E27FC236}">
                <a16:creationId xmlns:a16="http://schemas.microsoft.com/office/drawing/2014/main" id="{AC12A592-C02D-46EF-8E1F-9335DB8D7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827529" y="660400"/>
            <a:ext cx="6381405" cy="6214533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17" name="Freeform 14">
            <a:extLst>
              <a:ext uri="{FF2B5EF4-FFF2-40B4-BE49-F238E27FC236}">
                <a16:creationId xmlns:a16="http://schemas.microsoft.com/office/drawing/2014/main" id="{24005816-5BCA-4665-8A58-5580F8E9C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1603" y="104899"/>
            <a:ext cx="6896713" cy="6005491"/>
          </a:xfrm>
          <a:custGeom>
            <a:avLst/>
            <a:gdLst>
              <a:gd name="connsiteX0" fmla="*/ 3912717 w 6896713"/>
              <a:gd name="connsiteY0" fmla="*/ 0 h 6005491"/>
              <a:gd name="connsiteX1" fmla="*/ 6679426 w 6896713"/>
              <a:gd name="connsiteY1" fmla="*/ 1146008 h 6005491"/>
              <a:gd name="connsiteX2" fmla="*/ 6896713 w 6896713"/>
              <a:gd name="connsiteY2" fmla="*/ 1385085 h 6005491"/>
              <a:gd name="connsiteX3" fmla="*/ 6896713 w 6896713"/>
              <a:gd name="connsiteY3" fmla="*/ 1431256 h 6005491"/>
              <a:gd name="connsiteX4" fmla="*/ 6657442 w 6896713"/>
              <a:gd name="connsiteY4" fmla="*/ 1167992 h 6005491"/>
              <a:gd name="connsiteX5" fmla="*/ 3912717 w 6896713"/>
              <a:gd name="connsiteY5" fmla="*/ 31089 h 6005491"/>
              <a:gd name="connsiteX6" fmla="*/ 31089 w 6896713"/>
              <a:gd name="connsiteY6" fmla="*/ 3912717 h 6005491"/>
              <a:gd name="connsiteX7" fmla="*/ 593046 w 6896713"/>
              <a:gd name="connsiteY7" fmla="*/ 5925483 h 6005491"/>
              <a:gd name="connsiteX8" fmla="*/ 633874 w 6896713"/>
              <a:gd name="connsiteY8" fmla="*/ 5989169 h 6005491"/>
              <a:gd name="connsiteX9" fmla="*/ 607415 w 6896713"/>
              <a:gd name="connsiteY9" fmla="*/ 6005491 h 6005491"/>
              <a:gd name="connsiteX10" fmla="*/ 566458 w 6896713"/>
              <a:gd name="connsiteY10" fmla="*/ 5941603 h 6005491"/>
              <a:gd name="connsiteX11" fmla="*/ 0 w 6896713"/>
              <a:gd name="connsiteY11" fmla="*/ 3912717 h 6005491"/>
              <a:gd name="connsiteX12" fmla="*/ 3912717 w 6896713"/>
              <a:gd name="connsiteY12" fmla="*/ 0 h 600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6713" h="6005491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F07F359-8CA3-4854-91E7-EE60040205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16018" y="331504"/>
            <a:ext cx="6675982" cy="5235326"/>
            <a:chOff x="5516018" y="331504"/>
            <a:chExt cx="6675982" cy="5235326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A7FCE86-4904-4337-8D0A-3ABA73F609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66830" y="3315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A32C234-504D-411A-A62B-C1CFD8CE74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" flipH="1">
              <a:off x="9408861" y="3383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81593A9-FD94-454C-9225-478E90706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" flipH="1">
              <a:off x="9551700" y="34763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A3524A1-6DED-4D15-ADE5-F797DBCEC7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60000" flipH="1">
              <a:off x="9688748" y="36808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A8491CF-856E-4A54-84A5-45C558D41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540000" flipH="1">
              <a:off x="9824866" y="38922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D63A388-BF18-4ABD-96E0-5946B1ABB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660000" flipH="1">
              <a:off x="9966867" y="41754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CF6D779-BD20-4058-AC29-AF4E2510C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780000" flipH="1">
              <a:off x="10104425" y="4458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189C0F2-FCB0-4636-9B05-F9FCBB202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900000" flipH="1">
              <a:off x="10240513" y="47948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4CB59A-0AC3-4235-A93D-73EE12466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080000" flipH="1">
              <a:off x="10373882" y="52435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2B6E97A3-E95A-4D79-A8F8-1945EA2634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0" flipH="1">
              <a:off x="10505632" y="570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F4ABF86-0905-4DE8-8F0B-D10D3D6F9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320000" flipH="1">
              <a:off x="10637382" y="62134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FAAFEF7-DFA1-48C7-9E4E-FF7B1453C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440000" flipH="1">
              <a:off x="10760965" y="69043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D828735-DFD9-4894-8461-77A2FB0C92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" flipH="1">
              <a:off x="10888991" y="755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A6C2585-E93E-489D-8819-FCEE3CFF11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740000" flipH="1">
              <a:off x="11010193" y="81974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57C1F25-FC5C-4082-B4F6-888F8E467E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860000" flipH="1">
              <a:off x="11129014" y="89566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5DF4BDB-CA1D-4DA1-8D26-6BAEE0A21A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980000" flipH="1">
              <a:off x="11249872" y="968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315D2A0-DDA4-4A25-9CC7-7F90CCF0C4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160000" flipH="1">
              <a:off x="11366875" y="10480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5312B72-7E7D-4B0B-960E-7D7C9540EB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280000" flipH="1">
              <a:off x="11474058" y="11315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48B42BB-3C0E-4546-957B-AB593E308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0" flipH="1">
              <a:off x="11583303" y="122179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37809D5-5F69-4BC6-A661-44B2A8A68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520000" flipH="1">
              <a:off x="11685344" y="132177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269CB4C-8BB5-4F63-8961-7EB8FE56D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700000" flipH="1">
              <a:off x="11787704" y="14176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5E7B60C-3F52-49EA-99F5-BE42AF88D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820000" flipH="1">
              <a:off x="11880859" y="15179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C5E885C-0F0D-4E11-8B78-4CE951E26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940000" flipH="1">
              <a:off x="11969252" y="162743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BFA6E20-F564-4CA4-9150-FDD50B02C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060000" flipH="1">
              <a:off x="12062016" y="173601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3C02C6B-B913-486F-ACAE-432DE1F770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074680" y="1910249"/>
              <a:ext cx="117320" cy="82912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6B5EE64-D401-45A4-82D4-85D4BF5C8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149943" y="2083594"/>
              <a:ext cx="39676" cy="21436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F622D05-678C-405E-A74F-8D92A9C64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" flipH="1">
              <a:off x="9127990" y="33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8E01EF1-6517-49CC-9891-1BD6D0F49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" flipH="1">
              <a:off x="8987576" y="33663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EC93E79A-63A6-4782-9D2C-BC50CD3B9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" flipH="1">
              <a:off x="8844859" y="35117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6C4B4DB-9B57-4C69-96EB-3E1910CEF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" flipH="1">
              <a:off x="8706904" y="3657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9BBDCDA7-4ECB-42B1-8524-3D30023D6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20000" flipH="1">
              <a:off x="8568008" y="3878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7483057-DCDA-4BC6-8E99-7EAD94E87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840000" flipH="1">
              <a:off x="8429112" y="4100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E5C35A56-0BFD-443F-8C2B-CA73A3BFE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960000" flipH="1">
              <a:off x="8294968" y="4462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14A0AE5-3A88-4D5D-845C-5E906888C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080000" flipH="1">
              <a:off x="8160824" y="48237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4D7BF13-EDB8-4740-A3C5-87E2E7C676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260000" flipH="1">
              <a:off x="8027689" y="53184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6DAB64F-4B49-434F-BFB6-0BEB41AFB6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380000" flipH="1">
              <a:off x="7894554" y="58132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3B5AD9A-BDA6-42CE-A1C0-C072103072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500000" flipH="1">
              <a:off x="7761419" y="63079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FD67DCC-475F-4BED-A634-FCDD63176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620000" flipH="1">
              <a:off x="7636645" y="6898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D276E23-C86D-408D-821A-1E9A44CAE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0" flipH="1">
              <a:off x="7511871" y="75119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A879A029-D911-41C4-B218-E41871762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920000" flipH="1">
              <a:off x="7387899" y="81977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9C7C9F5-65FB-4EF9-9AAD-F7E1FC14B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040000" flipH="1">
              <a:off x="7268530" y="8931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115B885-5742-431C-BA48-96FC1F6D2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160000" flipH="1">
              <a:off x="7152030" y="9765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ACE37A6-0062-4B86-B4E6-18088040C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340000" flipH="1">
              <a:off x="7041695" y="10600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A8679B4-56BA-43AB-A0A2-E2DA3E205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460000" flipH="1">
              <a:off x="6931360" y="114346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0DE24D2-627B-4C47-A858-A572BCDBAC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580000" flipH="1">
              <a:off x="6819070" y="123586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612A33E-5DE0-4E4D-9469-0BD0B3E0E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700000" flipH="1">
              <a:off x="6721359" y="133274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91673515-5E42-490F-85A0-45658D81C6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880000" flipH="1">
              <a:off x="6617467" y="1429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B048C17-3768-4DAF-A7AE-B2E717497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0" flipH="1">
              <a:off x="6520032" y="15272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AA4E6AA-9D65-4EED-91CB-87A5762ED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120000" flipH="1">
              <a:off x="6429579" y="16416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B48B9EB-BBF2-48D7-A1D7-720D94506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240000" flipH="1">
              <a:off x="6340532" y="1750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21492B79-7338-4309-8667-BB29A7BC7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420000" flipH="1">
              <a:off x="6261757" y="18601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0352FD87-EC9C-4EB5-9ACC-A152F78FC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540000" flipH="1">
              <a:off x="6184144" y="19796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FF2CEA1F-EFA8-4353-B5F8-CCE27955A1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660000" flipH="1">
              <a:off x="6106531" y="20990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3E2723F-2530-4636-9A19-8F11B156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780000" flipH="1">
              <a:off x="6043206" y="222255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4A9EE901-51C9-4292-BB45-5EDB8568A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960000" flipH="1">
              <a:off x="5978913" y="234430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55407C2-7321-48CD-811F-92C71F701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080000" flipH="1">
              <a:off x="5912438" y="24706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5298A8A-2787-4153-BDA2-E939BFD51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0" flipH="1">
              <a:off x="5858875" y="260092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C45057B3-3FAB-42ED-AF52-F00BB07FA5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320000" flipH="1">
              <a:off x="5808182" y="273404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A3F09E9-F476-4352-90E3-6A15C74268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500000" flipH="1">
              <a:off x="5773263" y="28668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28F7C5C-CECC-45A8-8A1F-D679534D4C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620000" flipH="1">
              <a:off x="5735963" y="300206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FFFDFE9C-2017-4831-9F1B-6A03B58B10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740000" flipH="1">
              <a:off x="5700105" y="31389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01BC942F-09CF-4A51-85A5-E23E2D71C8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860000" flipH="1">
              <a:off x="5665939" y="327548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1456B520-137F-484D-A1B1-7DA5C3F82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040000" flipH="1">
              <a:off x="5644476" y="341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ECA29F0-381E-4770-97BF-54C4E5220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160000" flipH="1">
              <a:off x="5626530" y="3554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D43CCF9F-8F11-4676-82F3-DEE8A48C8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280000" flipH="1">
              <a:off x="5616429" y="36918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6FA620FD-6A45-4754-BF42-A9FA44966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0" flipH="1">
              <a:off x="5611319" y="38353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DC4D38F3-F3A2-42F4-8B57-DE978EC4A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580000" flipH="1">
              <a:off x="5608540" y="397572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3C26D30E-A91E-4A5B-A419-0B9D79D57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700000" flipH="1">
              <a:off x="5605761" y="41160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ADAB3EBC-722A-462E-AAAE-506E50038E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820000" flipH="1">
              <a:off x="5624195" y="425421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CBAABC17-832F-48CF-B0D7-0F7DE5460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940000" flipH="1">
              <a:off x="5642629" y="43923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E1FCA513-75D7-414B-BE8F-D780746A1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120000" flipH="1">
              <a:off x="5654818" y="45363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F2EDEC73-B6F5-473F-934A-CEF57604A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240000" flipH="1">
              <a:off x="5684446" y="467136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B987884-C452-4492-A9F8-2770D3373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360000" flipH="1">
              <a:off x="5714074" y="48087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9D978AF2-B7BB-4E05-81F1-1A5DBD1CB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480000" flipH="1">
              <a:off x="5748464" y="49484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D7AD4D45-C3AB-458E-B826-0FACBD0DF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660000" flipH="1">
              <a:off x="5792091" y="507760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A6E15555-6738-463C-B7DF-86429F2F96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780000" flipH="1">
              <a:off x="5847441" y="52112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AE487172-B4C3-4D13-A562-EF0BA3DD9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900000" flipH="1">
              <a:off x="5900410" y="53424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08E66297-1295-432A-AA84-7BB2341C1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020000" flipH="1">
              <a:off x="5955760" y="547369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AB5AA649-A90E-45DA-B645-089C3D2B1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7265" y="2433919"/>
            <a:ext cx="4239155" cy="321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852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305</TotalTime>
  <Words>228</Words>
  <Application>Microsoft Office PowerPoint</Application>
  <PresentationFormat>Widescreen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Celestial</vt:lpstr>
      <vt:lpstr>myPhotos</vt:lpstr>
      <vt:lpstr>Summary</vt:lpstr>
      <vt:lpstr>Link</vt:lpstr>
      <vt:lpstr>PowerPoint Presentation</vt:lpstr>
      <vt:lpstr>Business Model Canvas</vt:lpstr>
      <vt:lpstr>Demo</vt:lpstr>
      <vt:lpstr>Thank you! 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myPhotos</dc:title>
  <dc:creator>Yousafi, Tahmina (Cognizant)</dc:creator>
  <cp:lastModifiedBy>Tami Yousafi</cp:lastModifiedBy>
  <cp:revision>16</cp:revision>
  <dcterms:created xsi:type="dcterms:W3CDTF">2021-08-06T16:18:48Z</dcterms:created>
  <dcterms:modified xsi:type="dcterms:W3CDTF">2021-08-11T21:57:15Z</dcterms:modified>
</cp:coreProperties>
</file>